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2"/>
    <p:sldId id="310" r:id="rId3"/>
    <p:sldId id="311" r:id="rId4"/>
    <p:sldId id="313" r:id="rId5"/>
    <p:sldId id="312" r:id="rId6"/>
    <p:sldId id="314" r:id="rId7"/>
    <p:sldId id="315" r:id="rId8"/>
    <p:sldId id="316" r:id="rId9"/>
  </p:sldIdLst>
  <p:sldSz cx="12188825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howGuides="1">
      <p:cViewPr varScale="1">
        <p:scale>
          <a:sx n="78" d="100"/>
          <a:sy n="78" d="100"/>
        </p:scale>
        <p:origin x="878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2/19/2026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2/19/2026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2/19/2026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AEBD11-C7B4-E827-30EF-26700B291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13" y="116632"/>
            <a:ext cx="8229600" cy="1219200"/>
          </a:xfrm>
        </p:spPr>
        <p:txBody>
          <a:bodyPr/>
          <a:lstStyle/>
          <a:p>
            <a:r>
              <a:rPr lang="en-IN" dirty="0"/>
              <a:t>Salary prediction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5213" y="1556792"/>
            <a:ext cx="6973415" cy="432048"/>
          </a:xfrm>
        </p:spPr>
        <p:txBody>
          <a:bodyPr/>
          <a:lstStyle/>
          <a:p>
            <a:r>
              <a:rPr lang="it-IT" dirty="0"/>
              <a:t>AutoAI model building in ibm waston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5A5BD-D4D9-72F9-31C2-C66DEBC12389}"/>
              </a:ext>
            </a:extLst>
          </p:cNvPr>
          <p:cNvSpPr txBox="1"/>
          <p:nvPr/>
        </p:nvSpPr>
        <p:spPr>
          <a:xfrm>
            <a:off x="189756" y="3731260"/>
            <a:ext cx="51125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 Narrow" panose="020B0004020202020204" pitchFamily="34" charset="0"/>
              </a:rPr>
              <a:t>Name – Lovely Pandey</a:t>
            </a:r>
          </a:p>
          <a:p>
            <a:endParaRPr lang="en-IN" sz="2000" dirty="0">
              <a:latin typeface="Aptos Narrow" panose="020B0004020202020204" pitchFamily="34" charset="0"/>
            </a:endParaRPr>
          </a:p>
          <a:p>
            <a:r>
              <a:rPr lang="en-IN" sz="2000" dirty="0">
                <a:latin typeface="Aptos Narrow" panose="020B0004020202020204" pitchFamily="34" charset="0"/>
              </a:rPr>
              <a:t>CSE/3</a:t>
            </a:r>
            <a:r>
              <a:rPr lang="en-IN" sz="2000" baseline="30000" dirty="0">
                <a:latin typeface="Aptos Narrow" panose="020B0004020202020204" pitchFamily="34" charset="0"/>
              </a:rPr>
              <a:t>rd</a:t>
            </a:r>
            <a:r>
              <a:rPr lang="en-IN" sz="2000" dirty="0">
                <a:latin typeface="Aptos Narrow" panose="020B0004020202020204" pitchFamily="34" charset="0"/>
              </a:rPr>
              <a:t> Year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LLOYD INSTITUTE O</a:t>
            </a:r>
            <a:r>
              <a:rPr lang="en-IN" sz="2000" dirty="0">
                <a:latin typeface="Aptos Narrow" panose="020B0004020202020204" pitchFamily="34" charset="0"/>
              </a:rPr>
              <a:t>F</a:t>
            </a:r>
            <a:r>
              <a:rPr lang="en-IN" sz="2000" dirty="0">
                <a:latin typeface="Arial Rounded MT Bold" panose="020F0704030504030204" pitchFamily="34" charset="0"/>
              </a:rPr>
              <a:t> ENGINEERING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&amp; TECHNOLOGY</a:t>
            </a:r>
            <a:endParaRPr lang="en-IN" sz="2000" dirty="0">
              <a:latin typeface="Aptos Narrow" panose="020B0004020202020204" pitchFamily="34" charset="0"/>
            </a:endParaRPr>
          </a:p>
        </p:txBody>
      </p:sp>
      <p:pic>
        <p:nvPicPr>
          <p:cNvPr id="1026" name="Picture 2" descr="Predicting Salaries with Linear Regression -A Simple &amp; Powerful ML Exercise  | by Karan Gore | Medium">
            <a:extLst>
              <a:ext uri="{FF2B5EF4-FFF2-40B4-BE49-F238E27FC236}">
                <a16:creationId xmlns:a16="http://schemas.microsoft.com/office/drawing/2014/main" id="{601C4C9A-C063-06FD-0059-115DCEA48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427" y="2891068"/>
            <a:ext cx="5950397" cy="39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72355D-7E08-FD0C-0D5D-0E59F9CA2291}"/>
              </a:ext>
            </a:extLst>
          </p:cNvPr>
          <p:cNvSpPr txBox="1"/>
          <p:nvPr/>
        </p:nvSpPr>
        <p:spPr>
          <a:xfrm>
            <a:off x="0" y="260648"/>
            <a:ext cx="5302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IN" sz="44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Introduction: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7DB62-95DF-99F3-092B-CD47520D406F}"/>
              </a:ext>
            </a:extLst>
          </p:cNvPr>
          <p:cNvSpPr txBox="1"/>
          <p:nvPr/>
        </p:nvSpPr>
        <p:spPr>
          <a:xfrm>
            <a:off x="261764" y="1556793"/>
            <a:ext cx="60486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 Black" panose="020B0A04020102020204" pitchFamily="34" charset="0"/>
              </a:rPr>
              <a:t>Salary Prediction is a machine learning project where we predict a person's salary based on their years of experience.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 Black" panose="020B0A04020102020204" pitchFamily="34" charset="0"/>
              </a:rPr>
              <a:t>In this project, we used </a:t>
            </a:r>
            <a:r>
              <a:rPr lang="en-US" sz="2800" b="1" dirty="0" err="1">
                <a:latin typeface="Arial Black" panose="020B0A04020102020204" pitchFamily="34" charset="0"/>
              </a:rPr>
              <a:t>AutoAI</a:t>
            </a:r>
            <a:r>
              <a:rPr lang="en-US" sz="2800" b="1" dirty="0">
                <a:latin typeface="Arial Black" panose="020B0A04020102020204" pitchFamily="34" charset="0"/>
              </a:rPr>
              <a:t> in IBM Watson Studio</a:t>
            </a:r>
            <a:r>
              <a:rPr lang="en-US" sz="2800" dirty="0">
                <a:latin typeface="Arial Black" panose="020B0A04020102020204" pitchFamily="34" charset="0"/>
              </a:rPr>
              <a:t> to automatically build the best machine learning model.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latin typeface="Arial Black" panose="020B0A040201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8B7689-4489-857E-3058-0830852D5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01" y="2420889"/>
            <a:ext cx="5302324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2C42F3-67EB-CFCB-D8FE-789FCC85FEE9}"/>
              </a:ext>
            </a:extLst>
          </p:cNvPr>
          <p:cNvSpPr txBox="1"/>
          <p:nvPr/>
        </p:nvSpPr>
        <p:spPr>
          <a:xfrm>
            <a:off x="7030516" y="188640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Objective: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59E10-1EB2-04F8-A9ED-4DE06F063940}"/>
              </a:ext>
            </a:extLst>
          </p:cNvPr>
          <p:cNvSpPr txBox="1"/>
          <p:nvPr/>
        </p:nvSpPr>
        <p:spPr>
          <a:xfrm>
            <a:off x="7174531" y="1052736"/>
            <a:ext cx="482453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main objective of this project is:</a:t>
            </a:r>
          </a:p>
          <a:p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To predict salary based on experience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To understand how </a:t>
            </a:r>
            <a:r>
              <a:rPr lang="en-US" sz="3200" dirty="0" err="1"/>
              <a:t>AutoAI</a:t>
            </a:r>
            <a:r>
              <a:rPr lang="en-US" sz="3200" dirty="0"/>
              <a:t> automatically builds models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To analyze the relationship between experience and salary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2CC429-DDE3-7FE7-5721-49A1AB26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16832"/>
            <a:ext cx="5662363" cy="494116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0D64E8-4106-F8A8-BFB6-8AE31F2BD94E}"/>
              </a:ext>
            </a:extLst>
          </p:cNvPr>
          <p:cNvCxnSpPr>
            <a:cxnSpLocks/>
          </p:cNvCxnSpPr>
          <p:nvPr/>
        </p:nvCxnSpPr>
        <p:spPr>
          <a:xfrm>
            <a:off x="0" y="834971"/>
            <a:ext cx="55183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446E67-5DB8-37C2-39C4-953A237BF72B}"/>
              </a:ext>
            </a:extLst>
          </p:cNvPr>
          <p:cNvSpPr txBox="1"/>
          <p:nvPr/>
        </p:nvSpPr>
        <p:spPr>
          <a:xfrm>
            <a:off x="333772" y="476672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Tools used: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53D8392-DC27-990A-0055-2F4A410E9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7595"/>
            <a:ext cx="71025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Cloud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 Studio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AutoAI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Salary)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DB649-D89C-31CA-9F7F-0F7702D98816}"/>
              </a:ext>
            </a:extLst>
          </p:cNvPr>
          <p:cNvCxnSpPr>
            <a:cxnSpLocks/>
          </p:cNvCxnSpPr>
          <p:nvPr/>
        </p:nvCxnSpPr>
        <p:spPr>
          <a:xfrm>
            <a:off x="0" y="1556792"/>
            <a:ext cx="537433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7A030D1-C35A-B9A5-8677-F1F0C658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791" y="908721"/>
            <a:ext cx="5374332" cy="59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B72A12-1302-CECD-2703-CE8996B2B45E}"/>
              </a:ext>
            </a:extLst>
          </p:cNvPr>
          <p:cNvSpPr txBox="1"/>
          <p:nvPr/>
        </p:nvSpPr>
        <p:spPr>
          <a:xfrm>
            <a:off x="549796" y="548680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What is </a:t>
            </a:r>
            <a:r>
              <a:rPr lang="en-IN" sz="3200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AutoAI</a:t>
            </a:r>
            <a:r>
              <a:rPr lang="en-IN" sz="32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3DA86-53E1-7CFA-DF6D-171A110059EB}"/>
              </a:ext>
            </a:extLst>
          </p:cNvPr>
          <p:cNvSpPr txBox="1"/>
          <p:nvPr/>
        </p:nvSpPr>
        <p:spPr>
          <a:xfrm>
            <a:off x="189756" y="1700808"/>
            <a:ext cx="6912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AutoAI is a tool in IBM Watson Studio that: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Automatically selects the best algorithm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Cleans and prepares the data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Trains multiple models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Selects the best performing model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Arial Black" panose="020B0A04020102020204" pitchFamily="34" charset="0"/>
              </a:rPr>
              <a:t>It reduces manual coding and saves time.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F08138-C38D-FA72-DC1B-5AFEF1C8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08" y="2348880"/>
            <a:ext cx="5230316" cy="450912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5FB69-219C-7F25-2D35-8FD5BC57F62E}"/>
              </a:ext>
            </a:extLst>
          </p:cNvPr>
          <p:cNvCxnSpPr>
            <a:cxnSpLocks/>
          </p:cNvCxnSpPr>
          <p:nvPr/>
        </p:nvCxnSpPr>
        <p:spPr>
          <a:xfrm flipV="1">
            <a:off x="-9331" y="1340768"/>
            <a:ext cx="7759927" cy="24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EFF311-AF08-1AE2-9940-579785D2B160}"/>
              </a:ext>
            </a:extLst>
          </p:cNvPr>
          <p:cNvSpPr txBox="1"/>
          <p:nvPr/>
        </p:nvSpPr>
        <p:spPr>
          <a:xfrm>
            <a:off x="261764" y="332656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Working Process: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C7559-991B-5D61-7C11-06C3408DFBAC}"/>
              </a:ext>
            </a:extLst>
          </p:cNvPr>
          <p:cNvSpPr txBox="1"/>
          <p:nvPr/>
        </p:nvSpPr>
        <p:spPr>
          <a:xfrm>
            <a:off x="405780" y="1700808"/>
            <a:ext cx="61926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Upload dataset (Salary data)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Select target column (Salary)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Run AutoAI experiment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AutoAI builds multiple models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Best model is selected automatically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>
                <a:latin typeface="Arial Black" panose="020B0A04020102020204" pitchFamily="34" charset="0"/>
              </a:rPr>
              <a:t>Model is used to predict salary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903AFB-D2BD-67F3-EBF4-CD6D8968E09E}"/>
              </a:ext>
            </a:extLst>
          </p:cNvPr>
          <p:cNvCxnSpPr>
            <a:cxnSpLocks/>
          </p:cNvCxnSpPr>
          <p:nvPr/>
        </p:nvCxnSpPr>
        <p:spPr>
          <a:xfrm>
            <a:off x="5662364" y="836712"/>
            <a:ext cx="65264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09254869-86D4-74FC-636E-F6A53AF6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05" y="1916834"/>
            <a:ext cx="5878388" cy="492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64780E-1B58-F257-3DBE-449074EC1461}"/>
              </a:ext>
            </a:extLst>
          </p:cNvPr>
          <p:cNvSpPr txBox="1"/>
          <p:nvPr/>
        </p:nvSpPr>
        <p:spPr>
          <a:xfrm>
            <a:off x="5878388" y="620688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Result: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02197-CFEB-36EA-128C-CE90AE222EFF}"/>
              </a:ext>
            </a:extLst>
          </p:cNvPr>
          <p:cNvSpPr txBox="1"/>
          <p:nvPr/>
        </p:nvSpPr>
        <p:spPr>
          <a:xfrm>
            <a:off x="5878388" y="1700808"/>
            <a:ext cx="61926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rial Black" panose="020B0A04020102020204" pitchFamily="34" charset="0"/>
              </a:rPr>
              <a:t>The model shows a positive relationship between: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US" sz="2800" dirty="0">
                <a:latin typeface="Arial Black" panose="020B0A04020102020204" pitchFamily="34" charset="0"/>
              </a:rPr>
              <a:t>Years of Experience ↑</a:t>
            </a:r>
            <a:br>
              <a:rPr lang="en-US" sz="2800" dirty="0">
                <a:latin typeface="Arial Black" panose="020B0A04020102020204" pitchFamily="34" charset="0"/>
              </a:rPr>
            </a:br>
            <a:r>
              <a:rPr lang="en-US" sz="2800" dirty="0">
                <a:latin typeface="Arial Black" panose="020B0A04020102020204" pitchFamily="34" charset="0"/>
              </a:rPr>
              <a:t>Salary ↑</a:t>
            </a:r>
          </a:p>
          <a:p>
            <a:pPr>
              <a:buNone/>
            </a:pPr>
            <a:r>
              <a:rPr lang="en-US" sz="2800" dirty="0">
                <a:latin typeface="Arial Black" panose="020B0A04020102020204" pitchFamily="34" charset="0"/>
              </a:rPr>
              <a:t>The graph shows actual salary data and predicted salary line.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54BB9C-CCF1-FC85-5709-FA3771380196}"/>
              </a:ext>
            </a:extLst>
          </p:cNvPr>
          <p:cNvCxnSpPr>
            <a:cxnSpLocks/>
          </p:cNvCxnSpPr>
          <p:nvPr/>
        </p:nvCxnSpPr>
        <p:spPr>
          <a:xfrm>
            <a:off x="4654252" y="1484784"/>
            <a:ext cx="75345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Employee Salary Prediction Machine Learning Model | Machine Learning |  Python Project - YouTube">
            <a:extLst>
              <a:ext uri="{FF2B5EF4-FFF2-40B4-BE49-F238E27FC236}">
                <a16:creationId xmlns:a16="http://schemas.microsoft.com/office/drawing/2014/main" id="{A516282B-6792-0524-0C26-213658776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48880"/>
            <a:ext cx="5374331" cy="450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205542-7F8A-9D26-62FD-E1F797980A62}"/>
              </a:ext>
            </a:extLst>
          </p:cNvPr>
          <p:cNvSpPr txBox="1"/>
          <p:nvPr/>
        </p:nvSpPr>
        <p:spPr>
          <a:xfrm>
            <a:off x="621804" y="54868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14266-3D1A-8E7C-7C3B-7469AC03E6B8}"/>
              </a:ext>
            </a:extLst>
          </p:cNvPr>
          <p:cNvSpPr txBox="1"/>
          <p:nvPr/>
        </p:nvSpPr>
        <p:spPr>
          <a:xfrm>
            <a:off x="405780" y="1628800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err="1">
                <a:latin typeface="Arial Black" panose="020B0A04020102020204" pitchFamily="34" charset="0"/>
              </a:rPr>
              <a:t>AutoAI</a:t>
            </a:r>
            <a:r>
              <a:rPr lang="en-US" sz="2800" dirty="0">
                <a:latin typeface="Arial Black" panose="020B0A04020102020204" pitchFamily="34" charset="0"/>
              </a:rPr>
              <a:t> makes machine learning easy and fast.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9B6DD-2A7D-1EC3-202E-E23394FDE26E}"/>
              </a:ext>
            </a:extLst>
          </p:cNvPr>
          <p:cNvSpPr txBox="1"/>
          <p:nvPr/>
        </p:nvSpPr>
        <p:spPr>
          <a:xfrm>
            <a:off x="477788" y="2582908"/>
            <a:ext cx="6912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>
                <a:latin typeface="Arial Black" panose="020B0A04020102020204" pitchFamily="34" charset="0"/>
              </a:rPr>
              <a:t>It helps in building accurate models without complex coding.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5D39BF-77AB-A64A-A97B-B35C9DCCFAD0}"/>
              </a:ext>
            </a:extLst>
          </p:cNvPr>
          <p:cNvSpPr txBox="1"/>
          <p:nvPr/>
        </p:nvSpPr>
        <p:spPr>
          <a:xfrm>
            <a:off x="477788" y="3967903"/>
            <a:ext cx="62646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 Black" panose="020B0A04020102020204" pitchFamily="34" charset="0"/>
              </a:rPr>
              <a:t>Salary prediction can help companies in decision making.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13" name="AutoShape 2" descr="Salary Prediction Dataset | Kaggle">
            <a:extLst>
              <a:ext uri="{FF2B5EF4-FFF2-40B4-BE49-F238E27FC236}">
                <a16:creationId xmlns:a16="http://schemas.microsoft.com/office/drawing/2014/main" id="{46C2A8B5-13CC-C8FA-FAD1-B4CA33CBB4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4" descr="Salary Prediction Dataset | Kaggle">
            <a:extLst>
              <a:ext uri="{FF2B5EF4-FFF2-40B4-BE49-F238E27FC236}">
                <a16:creationId xmlns:a16="http://schemas.microsoft.com/office/drawing/2014/main" id="{9E2E421A-7D77-2B25-D02C-8B38B8E985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8" name="Picture 6" descr="Salary Prediction Dataset | Kaggle">
            <a:extLst>
              <a:ext uri="{FF2B5EF4-FFF2-40B4-BE49-F238E27FC236}">
                <a16:creationId xmlns:a16="http://schemas.microsoft.com/office/drawing/2014/main" id="{2C4C983B-8684-1901-3453-C96364329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15" y="2348880"/>
            <a:ext cx="5158309" cy="450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124</TotalTime>
  <Words>241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Narrow</vt:lpstr>
      <vt:lpstr>Arial</vt:lpstr>
      <vt:lpstr>Arial Black</vt:lpstr>
      <vt:lpstr>Arial Rounded MT Bold</vt:lpstr>
      <vt:lpstr>Corbel</vt:lpstr>
      <vt:lpstr>Wingdings</vt:lpstr>
      <vt:lpstr>Digital Blue Tunnel 16x9</vt:lpstr>
      <vt:lpstr>Salary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Lovely Pandey</dc:creator>
  <cp:lastModifiedBy>Lovely Pandey</cp:lastModifiedBy>
  <cp:revision>2</cp:revision>
  <dcterms:created xsi:type="dcterms:W3CDTF">2026-02-19T10:05:27Z</dcterms:created>
  <dcterms:modified xsi:type="dcterms:W3CDTF">2026-02-19T14:10:56Z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